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Class Balance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56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56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6B2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Malignant</c:v>
                  </c:pt>
                  <c:pt idx="1">
                    <c:v>Benign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212</c:v>
                </c:pt>
                <c:pt idx="1">
                  <c:v>357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0E4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6F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rgbClr val="C05621"/>
            </a:solidFill>
            <a:ln w="38100" cap="flat">
              <a:solidFill>
                <a:srgbClr val="C0562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621"/>
              </a:solidFill>
              <a:ln w="9525" cap="flat">
                <a:solidFill>
                  <a:srgbClr val="C056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66.6</c:v>
                </c:pt>
                <c:pt idx="1">
                  <c:v>86.7</c:v>
                </c:pt>
                <c:pt idx="2">
                  <c:v>91.6</c:v>
                </c:pt>
                <c:pt idx="3">
                  <c:v>94.8</c:v>
                </c:pt>
                <c:pt idx="4">
                  <c:v>95.4</c:v>
                </c:pt>
                <c:pt idx="5">
                  <c:v>95.8</c:v>
                </c:pt>
                <c:pt idx="6">
                  <c:v>95.8</c:v>
                </c:pt>
                <c:pt idx="7">
                  <c:v>96.3</c:v>
                </c:pt>
                <c:pt idx="8">
                  <c:v>96.3</c:v>
                </c:pt>
                <c:pt idx="9">
                  <c:v>97.2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ED8936"/>
            </a:solidFill>
            <a:ln w="3810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87</c:v>
                </c:pt>
                <c:pt idx="1">
                  <c:v>89.1</c:v>
                </c:pt>
                <c:pt idx="2">
                  <c:v>91.3</c:v>
                </c:pt>
                <c:pt idx="3">
                  <c:v>93.5</c:v>
                </c:pt>
                <c:pt idx="4">
                  <c:v>93.5</c:v>
                </c:pt>
                <c:pt idx="5">
                  <c:v>95.7</c:v>
                </c:pt>
                <c:pt idx="6">
                  <c:v>95.7</c:v>
                </c:pt>
                <c:pt idx="7">
                  <c:v>95.7</c:v>
                </c:pt>
                <c:pt idx="8">
                  <c:v>95.7</c:v>
                </c:pt>
                <c:pt idx="9">
                  <c:v>95.7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6F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12700" cap="flat">
              <a:solidFill>
                <a:srgbClr val="F0E4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6F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B2412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3840480" y="0"/>
            <a:ext cx="1097280" cy="6858000"/>
          </a:xfrm>
          <a:prstGeom prst="triangle">
            <a:avLst/>
          </a:prstGeom>
          <a:solidFill>
            <a:srgbClr val="3B241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1206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Internship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1737360"/>
            <a:ext cx="6675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Diagnosing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Breast Tumors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 Neural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983480" y="5074920"/>
            <a:ext cx="1280160" cy="54864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5257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Malignant vs. Benign classification · Wisconsin Diagnostic dataset · Keras/TensorFlow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743200" cy="2743200"/>
          </a:xfrm>
          <a:prstGeom prst="ellipse">
            <a:avLst/>
          </a:prstGeom>
          <a:solidFill>
            <a:srgbClr val="FBF3EC"/>
          </a:solidFill>
          <a:ln w="25400">
            <a:solidFill>
              <a:srgbClr val="C056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54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→ 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F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features → classes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228600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Train a neural network to read 30 diagnostic measurements from a fine needle aspirate sample and decide: Malignant or Benign.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39319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434340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4A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fast, consistent second opinion on tumor characteristics can support — not replace — clinical decision-making.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F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sklearn.datasets.load_breast_cancer()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3B241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965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965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0936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0" y="19659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96112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missing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" y="356616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6035040" y="356616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Every sample summarizes 10 cell-nucleus properties — radius, texture, perimeter, area, smoothness, compactness, concavity, concave points, symmetry, fractal dimension — as mean, standard error, and worst value (30 features total).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34440" y="1965960"/>
            <a:ext cx="0" cy="3364992"/>
          </a:xfrm>
          <a:prstGeom prst="line">
            <a:avLst/>
          </a:prstGeom>
          <a:noFill/>
          <a:ln w="25400">
            <a:solidFill>
              <a:srgbClr val="C056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C056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72821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&amp; Frame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7647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B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DataFrame + label column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2624328"/>
            <a:ext cx="457200" cy="457200"/>
          </a:xfrm>
          <a:prstGeom prst="ellipse">
            <a:avLst/>
          </a:prstGeom>
          <a:solidFill>
            <a:srgbClr val="DD6B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25694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606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B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Shape, nulls, class balance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" y="3465576"/>
            <a:ext cx="457200" cy="457200"/>
          </a:xfrm>
          <a:prstGeom prst="ellipse">
            <a:avLst/>
          </a:prstGeom>
          <a:solidFill>
            <a:srgbClr val="C056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34107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X / 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344728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B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Features vs. target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05840" y="4306824"/>
            <a:ext cx="457200" cy="457200"/>
          </a:xfrm>
          <a:prstGeom prst="ellipse">
            <a:avLst/>
          </a:prstGeom>
          <a:solidFill>
            <a:srgbClr val="DD6B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Test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428853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B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80% / 20%, seed = 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5840" y="5148072"/>
            <a:ext cx="457200" cy="457200"/>
          </a:xfrm>
          <a:prstGeom prst="ellipse">
            <a:avLst/>
          </a:prstGeom>
          <a:solidFill>
            <a:srgbClr val="C056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5093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512978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B4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StandardScaler on both sets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2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7315200" cy="1051560"/>
          </a:xfrm>
          <a:prstGeom prst="roundRect">
            <a:avLst>
              <a:gd name="adj" fmla="val 8696"/>
            </a:avLst>
          </a:prstGeom>
          <a:solidFill>
            <a:srgbClr val="C0562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94960" y="16916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30 input features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2770632"/>
            <a:ext cx="320040" cy="274320"/>
          </a:xfrm>
          <a:prstGeom prst="downArrow">
            <a:avLst/>
          </a:prstGeom>
          <a:solidFill>
            <a:srgbClr val="ED8936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1089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31089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· 20 · ReLU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310896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4187952"/>
            <a:ext cx="320040" cy="274320"/>
          </a:xfrm>
          <a:prstGeom prst="downArrow">
            <a:avLst/>
          </a:prstGeom>
          <a:solidFill>
            <a:srgbClr val="ED8936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452628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4526280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· 2 · Sigmoid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4526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E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Sequential([Flatten, Dense(20, relu), Dense(2, sigmoid)])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BF3EC"/>
          </a:solidFill>
          <a:ln w="12700">
            <a:solidFill>
              <a:srgbClr val="EBD9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137160" cy="146304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BF3EC"/>
          </a:solidFill>
          <a:ln w="12700">
            <a:solidFill>
              <a:srgbClr val="EBD9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920240"/>
            <a:ext cx="137160" cy="14630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Categorical Crossentropy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BF3EC"/>
          </a:solidFill>
          <a:ln w="12700">
            <a:solidFill>
              <a:srgbClr val="EBD9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57600"/>
            <a:ext cx="137160" cy="146304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Epochs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BF3EC"/>
          </a:solidFill>
          <a:ln w="12700">
            <a:solidFill>
              <a:srgbClr val="EBD9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657600"/>
            <a:ext cx="137160" cy="14630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F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Validation split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Over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F5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 training epochs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10881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2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96.5%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 ACCURACY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66360" y="4389120"/>
            <a:ext cx="1828800" cy="0"/>
          </a:xfrm>
          <a:prstGeom prst="line">
            <a:avLst/>
          </a:prstGeom>
          <a:noFill/>
          <a:ln w="25400">
            <a:solidFill>
              <a:srgbClr val="C056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Test loss: 0.11   ·   114 held-out samples   ·   455 training samples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Measurements to Diagnosis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73152" cy="4572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30 raw measurements collected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73152" cy="4572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9631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Reshaped into one row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63824"/>
            <a:ext cx="73152" cy="4572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1810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Standardized via fitted scaler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85616"/>
            <a:ext cx="73152" cy="4572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3989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model.predict() → probabilities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07408"/>
            <a:ext cx="73152" cy="4572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6168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argmax() → final label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40880" y="1828800"/>
            <a:ext cx="4572000" cy="3566160"/>
          </a:xfrm>
          <a:prstGeom prst="roundRect">
            <a:avLst>
              <a:gd name="adj" fmla="val 2564"/>
            </a:avLst>
          </a:prstGeom>
          <a:solidFill>
            <a:srgbClr val="C0562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SAMPLE RESULT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2743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BENIGN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315200" y="4023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3D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Confidence: 70.5%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65760" cy="36576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single 20-unit hidden layer reaches ~96.5% test accuracy.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365760" cy="36576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standardization mattered more than architectural depth.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365760" cy="365760"/>
          </a:xfrm>
          <a:prstGeom prst="ellipse">
            <a:avLst/>
          </a:prstGeom>
          <a:solidFill>
            <a:srgbClr val="C0562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Results are on par with classical baselines like logistic regression.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365760" cy="36576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754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model is a decision-support aid, not a diagnostic replacement.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4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2026-07-20T10:13:58Z</dcterms:created>
  <dcterms:modified xsi:type="dcterms:W3CDTF">2026-07-20T10:13:58Z</dcterms:modified>
</cp:coreProperties>
</file>